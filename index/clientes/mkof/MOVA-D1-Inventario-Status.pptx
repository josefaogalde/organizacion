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4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8D8DC"/>
                </a:solidFill>
              </a:defRPr>
            </a:pPr>
            <a:r>
              <a:t>MOVA · Día 1 —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Inventario módulos 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E8F6F8"/>
                </a:solidFill>
              </a:defRPr>
            </a:pPr>
            <a:r>
              <a:t>acme-chile.cl · public_html/acme-chile.cl/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8D8DC"/>
                </a:solidFill>
              </a:defRPr>
            </a:pPr>
            <a:r>
              <a:t>Tarea organizador: index.html?tarea=mkof/01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56D76"/>
                </a:solidFill>
              </a:defRPr>
            </a:pPr>
            <a:r>
              <a:t>Actualizado: 8 jul 2026 · GRUPO MAKING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8C5"/>
                </a:solidFill>
              </a:defRPr>
            </a:pPr>
            <a:r>
              <a:t>Estado: EN PROGRESO — listo para cierre formal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Resumen ejecutivo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Día 1 · solo inventario — sin tocar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328"/>
                </a:solidFill>
              </a:defRPr>
            </a:pPr>
            <a:r>
              <a:t>•  Ruta real del sitio: public_html/acme-chile.cl/ (no en raíz de public_html).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562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328"/>
                </a:solidFill>
              </a:defRPr>
            </a:pPr>
            <a:r>
              <a:t>•  Problema confirmado: login FRAGMENTADO (Google + mova_auth PHP + contraseña ERP).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8658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328"/>
                </a:solidFill>
              </a:defRPr>
            </a:pPr>
            <a:r>
              <a:t>•  Panel MOVA (/mova/) usa Google OAuth — NO pasa por mova_auth.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1693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328"/>
                </a:solidFill>
              </a:defRPr>
            </a:pPr>
            <a:r>
              <a:t>•  localStorage en acme-chile.cl: clave axon_chats (widget AXON). Sin jwt/token visible.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44728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328"/>
                </a:solidFill>
              </a:defRPr>
            </a:pPr>
            <a:r>
              <a:t>•  n8n: pendiente del equipo que lo administra (no bloquea este status).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328"/>
                </a:solidFill>
              </a:defRPr>
            </a:pPr>
            <a:r>
              <a:t>•  /pruebas/ queda fuera de alcance — era etapa 1, producción es /mova/.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Checklist Día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Criterio de 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7F37"/>
                </a:solidFill>
              </a:defRPr>
            </a:pPr>
            <a: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3716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F2328"/>
                </a:solidFill>
              </a:defRPr>
            </a:pPr>
            <a:r>
              <a:t>Acceso cPanel GoDaddy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470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7F37"/>
                </a:solidFill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4708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F2328"/>
                </a:solidFill>
              </a:defRPr>
            </a:pPr>
            <a:r>
              <a:t>Árbol public_html/acme-chile.cl/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2257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7F37"/>
                </a:solidFill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322576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F2328"/>
                </a:solidFill>
              </a:defRPr>
            </a:pPr>
            <a:r>
              <a:t>Auth documentada (módulos revisados)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9806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7F37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798064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F2328"/>
                </a:solidFill>
              </a:defRPr>
            </a:pPr>
            <a:r>
              <a:t>localStorage en /mova/ (axon_chats)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735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7F37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27355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F2328"/>
                </a:solidFill>
              </a:defRPr>
            </a:pPr>
            <a:r>
              <a:t>n8n — delegado equipo n8n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49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F3F00"/>
                </a:solidFill>
              </a:defRPr>
            </a:pPr>
            <a:r>
              <a:t>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7490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F2328"/>
                </a:solidFill>
              </a:defRPr>
            </a:pPr>
            <a:r>
              <a:t>Compartir status con equipo técnico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2245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F3F00"/>
                </a:solidFill>
              </a:defRPr>
            </a:pPr>
            <a:r>
              <a:t>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22452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F2328"/>
                </a:solidFill>
              </a:defRPr>
            </a:pPr>
            <a:r>
              <a:t>Marcar tarea mkof/01 completada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6692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4A4E"/>
                </a:solidFill>
              </a:defRPr>
            </a:pPr>
            <a:r>
              <a:t>Avance: 5/7 ítems · Faltan: compartir + marcar tarea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Módulos revisados en navegador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https://acme-chile.cl/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A4A4E"/>
                </a:solidFill>
              </a:defRPr>
            </a:pPr>
            <a:r>
              <a:t>Módulo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234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A4A4E"/>
                </a:solidFill>
              </a:defRPr>
            </a:pPr>
            <a:r>
              <a:t>URL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1234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A4A4E"/>
                </a:solidFill>
              </a:defRPr>
            </a:pPr>
            <a:r>
              <a:t>Auth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234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A4A4E"/>
                </a:solidFill>
              </a:defRPr>
            </a:pPr>
            <a:r>
              <a:t>localStorage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234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A4A4E"/>
                </a:solidFill>
              </a:defRPr>
            </a:pPr>
            <a:r>
              <a:t>mova_auth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2328"/>
                </a:solidFill>
              </a:defRPr>
            </a:pPr>
            <a:r>
              <a:t>Portal MOVA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160020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D76"/>
                </a:solidFill>
              </a:defRPr>
            </a:pPr>
            <a:r>
              <a:t>/mova/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160020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328"/>
                </a:solidFill>
              </a:defRPr>
            </a:pPr>
            <a:r>
              <a:t>Google OAuth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160020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328"/>
                </a:solidFill>
              </a:defRPr>
            </a:pPr>
            <a:r>
              <a:t>sí · axon_chats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160020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328"/>
                </a:solidFill>
              </a:defRPr>
            </a:pPr>
            <a:r>
              <a:t>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194767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2328"/>
                </a:solidFill>
              </a:defRPr>
            </a:pPr>
            <a:r>
              <a:t>mova_auth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194767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D76"/>
                </a:solidFill>
              </a:defRPr>
            </a:pPr>
            <a:r>
              <a:t>/mova_auth/login.php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194767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328"/>
                </a:solidFill>
              </a:defRPr>
            </a:pPr>
            <a:r>
              <a:t>PHP correo+clave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194767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328"/>
                </a:solidFill>
              </a:defRPr>
            </a:pPr>
            <a:r>
              <a:t>pendiente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194767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328"/>
                </a:solidFill>
              </a:defRPr>
            </a:pPr>
            <a:r>
              <a:t>parcial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29514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2328"/>
                </a:solidFill>
              </a:defRPr>
            </a:pPr>
            <a:r>
              <a:t>MOVA ERP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2295144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D76"/>
                </a:solidFill>
              </a:defRPr>
            </a:pPr>
            <a:r>
              <a:t>/mova/erp/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2295144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328"/>
                </a:solidFill>
              </a:defRPr>
            </a:pPr>
            <a:r>
              <a:t>Contraseña local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229514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328"/>
                </a:solidFill>
              </a:defRPr>
            </a:pPr>
            <a:r>
              <a:t>pendiente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29514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328"/>
                </a:solidFill>
              </a:defRPr>
            </a:pPr>
            <a:r>
              <a:t>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64261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2328"/>
                </a:solidFill>
              </a:defRPr>
            </a:pPr>
            <a:r>
              <a:t>AXON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2642616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D76"/>
                </a:solidFill>
              </a:defRPr>
            </a:pPr>
            <a:r>
              <a:t>/axon/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2642616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328"/>
                </a:solidFill>
              </a:defRPr>
            </a:pPr>
            <a:r>
              <a:t>Sin login visible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264261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328"/>
                </a:solidFill>
              </a:defRPr>
            </a:pPr>
            <a:r>
              <a:t>pendiente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264261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328"/>
                </a:solidFill>
              </a:defRPr>
            </a:pPr>
            <a:r>
              <a:t>no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299008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2328"/>
                </a:solidFill>
              </a:defRPr>
            </a:pPr>
            <a:r>
              <a:t>RRHH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2990088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D76"/>
                </a:solidFill>
              </a:defRPr>
            </a:pPr>
            <a:r>
              <a:t>/rrhh/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0" y="299008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328"/>
                </a:solidFill>
              </a:defRPr>
            </a:pPr>
            <a:r>
              <a:t>403 Forbidden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299008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328"/>
                </a:solidFill>
              </a:defRPr>
            </a:pPr>
            <a:r>
              <a:t>n/a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299008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328"/>
                </a:solidFill>
              </a:defRPr>
            </a:pPr>
            <a:r>
              <a:t>no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33756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2328"/>
                </a:solidFill>
              </a:defRPr>
            </a:pPr>
            <a:r>
              <a:t>Documentos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0" y="333756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D76"/>
                </a:solidFill>
              </a:defRPr>
            </a:pPr>
            <a:r>
              <a:t>/documentos/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0" y="333756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328"/>
                </a:solidFill>
              </a:defRPr>
            </a:pPr>
            <a:r>
              <a:t>Público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333756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328"/>
                </a:solidFill>
              </a:defRPr>
            </a:pPr>
            <a:r>
              <a:t>no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33375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328"/>
                </a:solidFill>
              </a:defRPr>
            </a:pPr>
            <a:r>
              <a:t>n/a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F3F00"/>
                </a:solidFill>
              </a:defRPr>
            </a:pPr>
            <a:r>
              <a:t>Conclusión: ningún módulo M revisado usa mova_auth como único validador.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Inventario explicado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Para quienes no trabajan con código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2788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4A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A4A4E"/>
                </a:solidFill>
              </a:defRPr>
            </a:pPr>
            <a:r>
              <a:t>Módulo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328"/>
                </a:solidFill>
              </a:defRPr>
            </a:pPr>
            <a:r>
              <a:t>Cada app o sección del sitio (portal, ERP, AXON…).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234440"/>
            <a:ext cx="2788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4A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37160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A4A4E"/>
                </a:solidFill>
              </a:defRPr>
            </a:pPr>
            <a:r>
              <a:t>Auth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73736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328"/>
                </a:solidFill>
              </a:defRPr>
            </a:pPr>
            <a:r>
              <a:t>Cómo entra el usuario: Google, clave, o sin login.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234440"/>
            <a:ext cx="2788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4A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7160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A4A4E"/>
                </a:solidFill>
              </a:defRPr>
            </a:pPr>
            <a:r>
              <a:t>localStorage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3736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328"/>
                </a:solidFill>
              </a:defRPr>
            </a:pPr>
            <a:r>
              <a:t>Datos guardados en el navegador del usuario.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234440"/>
            <a:ext cx="2788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4A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60" y="137160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A4A4E"/>
                </a:solidFill>
              </a:defRPr>
            </a:pPr>
            <a:r>
              <a:t>mova_auth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173736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328"/>
                </a:solidFill>
              </a:defRPr>
            </a:pPr>
            <a:r>
              <a:t>¿Pasa por el login unificado? sí · no · parcial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880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F3F00"/>
                </a:solidFill>
              </a:defRPr>
            </a:pPr>
            <a:r>
              <a:t>Hoy: varias puertas de entrada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246120"/>
            <a:ext cx="1234440" cy="685800"/>
          </a:xfrm>
          <a:prstGeom prst="roundRect">
            <a:avLst/>
          </a:prstGeom>
          <a:solidFill>
            <a:srgbClr val="FFE8D6"/>
          </a:solidFill>
          <a:ln>
            <a:solidFill>
              <a:srgbClr val="BF3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401568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BF3F00"/>
                </a:solidFill>
              </a:defRPr>
            </a:pPr>
            <a:r>
              <a:t>Google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74519" y="3246120"/>
            <a:ext cx="1234440" cy="685800"/>
          </a:xfrm>
          <a:prstGeom prst="roundRect">
            <a:avLst/>
          </a:prstGeom>
          <a:solidFill>
            <a:srgbClr val="FFE8D6"/>
          </a:solidFill>
          <a:ln>
            <a:solidFill>
              <a:srgbClr val="BF3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74519" y="3401568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BF3F00"/>
                </a:solidFill>
              </a:defRPr>
            </a:pPr>
            <a:r>
              <a:t>PHP clave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46120" y="3246120"/>
            <a:ext cx="1234440" cy="685800"/>
          </a:xfrm>
          <a:prstGeom prst="roundRect">
            <a:avLst/>
          </a:prstGeom>
          <a:solidFill>
            <a:srgbClr val="FFE8D6"/>
          </a:solidFill>
          <a:ln>
            <a:solidFill>
              <a:srgbClr val="BF3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46120" y="3401568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BF3F00"/>
                </a:solidFill>
              </a:defRPr>
            </a:pPr>
            <a:r>
              <a:t>Contraseña ERP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17720" y="3246120"/>
            <a:ext cx="1234440" cy="685800"/>
          </a:xfrm>
          <a:prstGeom prst="roundRect">
            <a:avLst/>
          </a:prstGeom>
          <a:solidFill>
            <a:srgbClr val="FFE8D6"/>
          </a:solidFill>
          <a:ln>
            <a:solidFill>
              <a:srgbClr val="BF3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3401568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BF3F00"/>
                </a:solidFill>
              </a:defRPr>
            </a:pPr>
            <a:r>
              <a:t>Sin login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5623560" y="3429000"/>
            <a:ext cx="502920" cy="320040"/>
          </a:xfrm>
          <a:prstGeom prst="rightArrow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28803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7F37"/>
                </a:solidFill>
              </a:defRPr>
            </a:pPr>
            <a:r>
              <a:t>Objetivo MOVA: una sola puerta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3246120"/>
            <a:ext cx="4114800" cy="685800"/>
          </a:xfrm>
          <a:prstGeom prst="roundRect">
            <a:avLst/>
          </a:prstGeom>
          <a:solidFill>
            <a:srgbClr val="D4EDDA"/>
          </a:solidFill>
          <a:ln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336499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7F37"/>
                </a:solidFill>
              </a:defRPr>
            </a:pPr>
            <a:r>
              <a:t>mova_auth  →  todos los módulos 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251960"/>
            <a:ext cx="11155680" cy="1051560"/>
          </a:xfrm>
          <a:prstGeom prst="roundRect">
            <a:avLst/>
          </a:prstGeom>
          <a:solidFill>
            <a:srgbClr val="FFF8C5"/>
          </a:solidFill>
          <a:ln>
            <a:solidFill>
              <a:srgbClr val="4A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407408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A4A4E"/>
                </a:solidFill>
              </a:defRPr>
            </a:pPr>
            <a:r>
              <a:t>Hallazgo Día 1: ningún módulo revisado usa solo mova_auth.</a:t>
            </a:r>
            <a:br/>
            <a:r>
              <a:t>Eso confirma que el login está repartido y hay que unificarlo en los días 2–7.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532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A4A4E"/>
                </a:solidFill>
              </a:defRPr>
            </a:pPr>
            <a:r>
              <a:t>Lectura rápida: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011680" y="5440680"/>
            <a:ext cx="12344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11680" y="550468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F37"/>
                </a:solidFill>
              </a:defRPr>
            </a:pPr>
            <a:r>
              <a:t>sí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29000" y="5440680"/>
            <a:ext cx="12344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BF3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29000" y="550468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F3F00"/>
                </a:solidFill>
              </a:defRPr>
            </a:pPr>
            <a:r>
              <a:t>no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46320" y="5440680"/>
            <a:ext cx="12344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BF3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46320" y="550468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F3F00"/>
                </a:solidFill>
              </a:defRPr>
            </a:pPr>
            <a:r>
              <a:t>parcial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63640" y="5440680"/>
            <a:ext cx="12344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656D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550468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56D76"/>
                </a:solidFill>
              </a:defRPr>
            </a:pPr>
            <a:r>
              <a:t>pendiente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680960" y="5440680"/>
            <a:ext cx="12344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656D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80960" y="550468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56D76"/>
                </a:solidFill>
              </a:defRPr>
            </a:pPr>
            <a:r>
              <a:t>n/a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Estructura cPanel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public_html/acme-chile.cl/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328"/>
                </a:solidFill>
              </a:defRPr>
            </a:pPr>
            <a:r>
              <a:t>admin · axon · axon-news · Boletin_Axon · crm · documentos</a:t>
            </a:r>
            <a:br/>
            <a:r>
              <a:t>gamkof · gestion/eerr · js · multimedia · mova/ · mova_auth/</a:t>
            </a:r>
            <a:br/>
            <a:r>
              <a:t>operaciones · rrhh · skill</a:t>
            </a:r>
            <a:br/>
            <a:br/>
            <a:r>
              <a:t>mova/ → agencia · brief · cotizador · cuentas · doc · erp · estudios</a:t>
            </a:r>
            <a:br/>
            <a:r>
              <a:t>facturas · forecast · negocios · oc · operacion · restringido · seo</a:t>
            </a:r>
            <a:br/>
            <a:r>
              <a:t>strack · suscripciones · versiones_anteriores</a:t>
            </a:r>
            <a:br/>
            <a:br/>
            <a:r>
              <a:t>mova_auth/ → auth.php · config.php · google_login.php · login.php</a:t>
            </a:r>
            <a:br/>
            <a:r>
              <a:t>logout.php · panel.php · setup.sql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4864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7A80"/>
                </a:solidFill>
              </a:defRPr>
            </a:pPr>
            <a:r>
              <a:t>No hay MAESTRO/INGRESOS/EGRESOS en raíz — ERP bajo mova/erp/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DevTools · Local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Sesión en https://acme-chile.cl/mova/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A4A4E"/>
                </a:solidFill>
              </a:defRPr>
            </a:pPr>
            <a:r>
              <a:t>Origen acme-chile.cl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328"/>
                </a:solidFill>
              </a:defRPr>
            </a:pPr>
            <a:r>
              <a:t>Clave: axon_chats  →  historial chats widget AXON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A4A4E"/>
                </a:solidFill>
              </a:defRPr>
            </a:pPr>
            <a:r>
              <a:t>Origen accounts.google.com (terceros)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328"/>
                </a:solidFill>
              </a:defRPr>
            </a:pPr>
            <a:r>
              <a:t>Sesión Google OAuth — fuera del top-level site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2328"/>
                </a:solidFill>
              </a:defRPr>
            </a:pPr>
            <a:r>
              <a:t>No se detectó clave jwt / token / access_token en acme-chile.cl.</a:t>
            </a:r>
            <a:br/>
            <a:r>
              <a:t>Sesión principal: Google OAuth + cookies.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5029200"/>
            <a:ext cx="10789920" cy="914400"/>
          </a:xfrm>
          <a:prstGeom prst="roundRect">
            <a:avLst/>
          </a:prstGeom>
          <a:solidFill>
            <a:srgbClr val="FFF8C5"/>
          </a:solidFill>
          <a:ln>
            <a:solidFill>
              <a:srgbClr val="4A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16636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A4A4E"/>
                </a:solidFill>
              </a:defRPr>
            </a:pPr>
            <a:r>
              <a:t>Objetivo Día 2–7: unificar en mova_auth con cookie HttpOnly — sin JWT en cliente.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Próximo paso — Día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mkof/02 · Acuerdo + diseño mova_auth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328"/>
                </a:solidFill>
              </a:defRPr>
            </a:pPr>
            <a:r>
              <a:t>1. Documento «Reglas-mova_auth» — regla: si no pasó por mova_auth, no entra.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3852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328"/>
                </a:solidFill>
              </a:defRPr>
            </a:pPr>
            <a:r>
              <a:t>2. Lista de 6 archivos PHP: config, session, login, validate, guard, logout.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0545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328"/>
                </a:solidFill>
              </a:defRPr>
            </a:pPr>
            <a:r>
              <a:t>3. Elegir módulo sandbox para migración (Día 5) — sugerencia: módulo simple bajo /mova/.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7238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328"/>
                </a:solidFill>
              </a:defRPr>
            </a:pPr>
            <a:r>
              <a:t>4. Solicitar al equipo n8n listado de webhooks por módulo (complemento inventario).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3931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328"/>
                </a:solidFill>
              </a:defRPr>
            </a:pPr>
            <a:r>
              <a:t>5. Marcar Día 1 completado en organizador tras compartir este PPT/PDF.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303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56D76"/>
                </a:solidFill>
              </a:defRPr>
            </a:pPr>
            <a:r>
              <a:t>Entregables: MOVA-D1-Inventario-Status.pptx · MOVA-D1-Inventario-Status.pdf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
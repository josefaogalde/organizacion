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4A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80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8D8DC"/>
                </a:solidFill>
              </a:defRPr>
            </a:pPr>
            <a:r>
              <a:t>MOVA · Día 1 —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Inventario módulos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E8F6F8"/>
                </a:solidFill>
              </a:defRPr>
            </a:pPr>
            <a:r>
              <a:t>acme-chile.cl · public_html/acme-chile.cl/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8D8DC"/>
                </a:solidFill>
              </a:defRPr>
            </a:pPr>
            <a:r>
              <a:t>Tarea organizador: index.html?tarea=mkof/01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56D76"/>
                </a:solidFill>
              </a:defRPr>
            </a:pPr>
            <a:r>
              <a:t>Actualizado: 8 jul 2026 · GRUPO MAKING 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8C5"/>
                </a:solidFill>
              </a:defRPr>
            </a:pPr>
            <a:r>
              <a:t>Estado: EN PROGRESO — listo para cierre formal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Resumen ejecutivo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Día 1 · solo inventario — sin tocar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•  Ruta real del sitio: public_html/acme-chile.cl/ (no en raíz de public_html).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5623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•  Problema confirmado: login FRAGMENTADO (Google + mova_auth PHP + contraseña ERP).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8658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•  Panel MOVA (/mova/) usa Google OAuth — NO pasa por mova_auth.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1693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•  localStorage en acme-chile.cl: clave axon_chats (widget AXON). Sin jwt/token visible.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44728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•  n8n: pendiente del equipo que lo administra (no bloquea este status).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77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•  /pruebas/ queda fuera de alcance — era etapa 1, producción es /mova/.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Checklist Día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Criterio de 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3716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Acceso cPanel GoDaddy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470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4708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Árbol public_html/acme-chile.cl/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2257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322576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Auth documentada (módulos revisados)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9806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798064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localStorage en /mova/ (axon_chats)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7355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27355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n8n — delegado equipo n8n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7490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7490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Compartir status con equipo técnico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245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22452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Marcar tarea mkof/01 completada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6692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A4A4E"/>
                </a:solidFill>
              </a:defRPr>
            </a:pPr>
            <a:r>
              <a:t>Avance: 5/7 ítems · Faltan: compartir + marcar tarea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Módulos revisados en navegador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https://acme-chile.cl/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Módulo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234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URL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234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Auth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234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localStorage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1234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mova_auth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2328"/>
                </a:solidFill>
              </a:defRPr>
            </a:pPr>
            <a:r>
              <a:t>Portal MOVA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160020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/mova/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160020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Google OAuth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160020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sí · axon_chats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160020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194767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2328"/>
                </a:solidFill>
              </a:defRPr>
            </a:pPr>
            <a:r>
              <a:t>mova_auth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194767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/mova_auth/login.php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1947672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PHP correo+clave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1947672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pendiente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194767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parcial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295144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2328"/>
                </a:solidFill>
              </a:defRPr>
            </a:pPr>
            <a:r>
              <a:t>MOVA ERP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2295144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/mova/erp/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2295144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Contraseña local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2295144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pendiente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295144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no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64261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2328"/>
                </a:solidFill>
              </a:defRPr>
            </a:pPr>
            <a:r>
              <a:t>AXON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2642616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/axon/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264261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Sin login visible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2642616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pendiente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2642616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299008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2328"/>
                </a:solidFill>
              </a:defRPr>
            </a:pPr>
            <a:r>
              <a:t>RRHH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2990088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/rrhh/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299008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403 Forbidden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2990088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n/a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299008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33756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2328"/>
                </a:solidFill>
              </a:defRPr>
            </a:pPr>
            <a:r>
              <a:t>Documentos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0" y="333756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/documentos/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333756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Público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333756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333756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n/a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F3F00"/>
                </a:solidFill>
              </a:defRPr>
            </a:pPr>
            <a:r>
              <a:t>Conclusión: ningún módulo M revisado usa mova_auth como único validador.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Inventario explicado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Para quienes no trabajan con código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34440"/>
            <a:ext cx="27889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A4A4E"/>
                </a:solidFill>
              </a:defRPr>
            </a:pPr>
            <a:r>
              <a:t>Módulo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2514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328"/>
                </a:solidFill>
              </a:defRPr>
            </a:pPr>
            <a:r>
              <a:t>Cada app o sección del sitio (portal, ERP, AXON…).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234440"/>
            <a:ext cx="27889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37160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A4A4E"/>
                </a:solidFill>
              </a:defRPr>
            </a:pPr>
            <a:r>
              <a:t>Auth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737360"/>
            <a:ext cx="2514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328"/>
                </a:solidFill>
              </a:defRPr>
            </a:pPr>
            <a:r>
              <a:t>Cómo entra el usuario: Google, clave, o sin login.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234440"/>
            <a:ext cx="27889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37160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A4A4E"/>
                </a:solidFill>
              </a:defRPr>
            </a:pPr>
            <a:r>
              <a:t>localStorage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737360"/>
            <a:ext cx="2514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328"/>
                </a:solidFill>
              </a:defRPr>
            </a:pPr>
            <a:r>
              <a:t>Datos guardados en el navegador del usuario.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1234440"/>
            <a:ext cx="27889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81160" y="137160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A4A4E"/>
                </a:solidFill>
              </a:defRPr>
            </a:pPr>
            <a:r>
              <a:t>mova_auth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60" y="1737360"/>
            <a:ext cx="2514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328"/>
                </a:solidFill>
              </a:defRPr>
            </a:pPr>
            <a:r>
              <a:t>¿Pasa por el login unificado? sí · no · parcial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880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F3F00"/>
                </a:solidFill>
              </a:defRPr>
            </a:pPr>
            <a:r>
              <a:t>Hoy: varias puertas de entrada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246120"/>
            <a:ext cx="1234440" cy="685800"/>
          </a:xfrm>
          <a:prstGeom prst="roundRect">
            <a:avLst/>
          </a:prstGeom>
          <a:solidFill>
            <a:srgbClr val="FFE8D6"/>
          </a:solidFill>
          <a:ln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401568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BF3F00"/>
                </a:solidFill>
              </a:defRPr>
            </a:pPr>
            <a:r>
              <a:t>Google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74519" y="3246120"/>
            <a:ext cx="1234440" cy="685800"/>
          </a:xfrm>
          <a:prstGeom prst="roundRect">
            <a:avLst/>
          </a:prstGeom>
          <a:solidFill>
            <a:srgbClr val="FFE8D6"/>
          </a:solidFill>
          <a:ln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74519" y="3401568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BF3F00"/>
                </a:solidFill>
              </a:defRPr>
            </a:pPr>
            <a:r>
              <a:t>PHP clave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46120" y="3246120"/>
            <a:ext cx="1234440" cy="685800"/>
          </a:xfrm>
          <a:prstGeom prst="roundRect">
            <a:avLst/>
          </a:prstGeom>
          <a:solidFill>
            <a:srgbClr val="FFE8D6"/>
          </a:solidFill>
          <a:ln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46120" y="3401568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BF3F00"/>
                </a:solidFill>
              </a:defRPr>
            </a:pPr>
            <a:r>
              <a:t>Contraseña ERP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17720" y="3246120"/>
            <a:ext cx="1234440" cy="685800"/>
          </a:xfrm>
          <a:prstGeom prst="roundRect">
            <a:avLst/>
          </a:prstGeom>
          <a:solidFill>
            <a:srgbClr val="FFE8D6"/>
          </a:solidFill>
          <a:ln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17720" y="3401568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BF3F00"/>
                </a:solidFill>
              </a:defRPr>
            </a:pPr>
            <a:r>
              <a:t>Sin login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623560" y="3429000"/>
            <a:ext cx="502920" cy="320040"/>
          </a:xfrm>
          <a:prstGeom prst="rightArrow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2880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7F37"/>
                </a:solidFill>
              </a:defRPr>
            </a:pPr>
            <a:r>
              <a:t>Objetivo MOVA: una sola puerta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3246120"/>
            <a:ext cx="4114800" cy="685800"/>
          </a:xfrm>
          <a:prstGeom prst="roundRect">
            <a:avLst/>
          </a:prstGeom>
          <a:solidFill>
            <a:srgbClr val="D4EDDA"/>
          </a:solidFill>
          <a:ln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336499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7F37"/>
                </a:solidFill>
              </a:defRPr>
            </a:pPr>
            <a:r>
              <a:t>mova_auth  →  todos los módulos 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251960"/>
            <a:ext cx="11155680" cy="1051560"/>
          </a:xfrm>
          <a:prstGeom prst="roundRect">
            <a:avLst/>
          </a:prstGeom>
          <a:solidFill>
            <a:srgbClr val="FFF8C5"/>
          </a:solidFill>
          <a:ln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407408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A4A4E"/>
                </a:solidFill>
              </a:defRPr>
            </a:pPr>
            <a:r>
              <a:t>Hallazgo Día 1: ningún módulo revisado usa solo mova_auth.</a:t>
            </a:r>
            <a:br/>
            <a:r>
              <a:t>Eso confirma que el login está repartido y hay que unificarlo en los días 2–7.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5321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Lectura rápida: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011680" y="5440680"/>
            <a:ext cx="12344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11680" y="550468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A7F37"/>
                </a:solidFill>
              </a:defRPr>
            </a:pPr>
            <a:r>
              <a:t>sí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29000" y="5440680"/>
            <a:ext cx="12344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29000" y="550468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BF3F00"/>
                </a:solidFill>
              </a:defRPr>
            </a:pPr>
            <a:r>
              <a:t>no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46320" y="5440680"/>
            <a:ext cx="12344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46320" y="550468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BF3F00"/>
                </a:solidFill>
              </a:defRPr>
            </a:pPr>
            <a:r>
              <a:t>parcial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63640" y="5440680"/>
            <a:ext cx="12344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550468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56D76"/>
                </a:solidFill>
              </a:defRPr>
            </a:pPr>
            <a:r>
              <a:t>pendiente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80960" y="5440680"/>
            <a:ext cx="12344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80960" y="550468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56D76"/>
                </a:solidFill>
              </a:defRPr>
            </a:pPr>
            <a:r>
              <a:t>n/a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Estructura cPanel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public_html/acme-chile.cl/ — mapa visual del hosting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03320" y="1170432"/>
            <a:ext cx="4754880" cy="530352"/>
          </a:xfrm>
          <a:prstGeom prst="roundRect">
            <a:avLst/>
          </a:prstGeom>
          <a:solidFill>
            <a:srgbClr val="2A4A4E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03320" y="12801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public_html / acme-chile.cl /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3108960" y="1700784"/>
            <a:ext cx="2971800.0" cy="292608"/>
          </a:xfrm>
          <a:prstGeom prst="line">
            <a:avLst/>
          </a:prstGeom>
          <a:ln w="19050">
            <a:solidFill>
              <a:srgbClr val="4A7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80760.0" y="1700784"/>
            <a:ext cx="2971800.0" cy="292608"/>
          </a:xfrm>
          <a:prstGeom prst="line">
            <a:avLst/>
          </a:prstGeom>
          <a:ln w="19050">
            <a:solidFill>
              <a:srgbClr val="4A7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80760.0" y="1700784"/>
            <a:ext cx="0.0" cy="173735"/>
          </a:xfrm>
          <a:prstGeom prst="line">
            <a:avLst/>
          </a:prstGeom>
          <a:ln w="19050">
            <a:solidFill>
              <a:srgbClr val="4A7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2920" y="1874519"/>
            <a:ext cx="1051560" cy="310896"/>
          </a:xfrm>
          <a:prstGeom prst="roundRect">
            <a:avLst/>
          </a:prstGeom>
          <a:solidFill>
            <a:srgbClr val="F0F4F5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20239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56D76"/>
                </a:solidFill>
              </a:defRPr>
            </a:pPr>
            <a:r>
              <a:t>admin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18488" y="1874519"/>
            <a:ext cx="1051560" cy="310896"/>
          </a:xfrm>
          <a:prstGeom prst="roundRect">
            <a:avLst/>
          </a:prstGeom>
          <a:solidFill>
            <a:srgbClr val="F0F4F5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18488" y="1920239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56D76"/>
                </a:solidFill>
              </a:defRPr>
            </a:pPr>
            <a:r>
              <a:t>axon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34056" y="1874519"/>
            <a:ext cx="1051560" cy="310896"/>
          </a:xfrm>
          <a:prstGeom prst="roundRect">
            <a:avLst/>
          </a:prstGeom>
          <a:solidFill>
            <a:srgbClr val="F0F4F5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34056" y="1920239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56D76"/>
                </a:solidFill>
              </a:defRPr>
            </a:pPr>
            <a:r>
              <a:t>documentos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9624" y="1874519"/>
            <a:ext cx="1051560" cy="310896"/>
          </a:xfrm>
          <a:prstGeom prst="roundRect">
            <a:avLst/>
          </a:prstGeom>
          <a:solidFill>
            <a:srgbClr val="F0F4F5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9624" y="1920239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56D76"/>
                </a:solidFill>
              </a:defRPr>
            </a:pPr>
            <a:r>
              <a:t>rrhh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65192" y="1874519"/>
            <a:ext cx="1051560" cy="310896"/>
          </a:xfrm>
          <a:prstGeom prst="roundRect">
            <a:avLst/>
          </a:prstGeom>
          <a:solidFill>
            <a:srgbClr val="F0F4F5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65192" y="1920239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56D76"/>
                </a:solidFill>
              </a:defRPr>
            </a:pPr>
            <a:r>
              <a:t>crm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60" y="1874519"/>
            <a:ext cx="1051560" cy="310896"/>
          </a:xfrm>
          <a:prstGeom prst="roundRect">
            <a:avLst/>
          </a:prstGeom>
          <a:solidFill>
            <a:srgbClr val="F0F4F5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60" y="1920239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56D76"/>
                </a:solidFill>
              </a:defRPr>
            </a:pPr>
            <a:r>
              <a:t>skill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96328" y="1874519"/>
            <a:ext cx="1051560" cy="310896"/>
          </a:xfrm>
          <a:prstGeom prst="roundRect">
            <a:avLst/>
          </a:prstGeom>
          <a:solidFill>
            <a:srgbClr val="F0F4F5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96328" y="1920239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56D76"/>
                </a:solidFill>
              </a:defRPr>
            </a:pPr>
            <a:r>
              <a:t>operaciones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11896" y="1874519"/>
            <a:ext cx="1051560" cy="310896"/>
          </a:xfrm>
          <a:prstGeom prst="roundRect">
            <a:avLst/>
          </a:prstGeom>
          <a:solidFill>
            <a:srgbClr val="F0F4F5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11896" y="1920239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56D76"/>
                </a:solidFill>
              </a:defRPr>
            </a:pPr>
            <a:r>
              <a:t>multimedia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2212848"/>
            <a:ext cx="11155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56D76"/>
                </a:solidFill>
              </a:defRPr>
            </a:pPr>
            <a:r>
              <a:t>Otros módulos en la raíz del sitio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2514600"/>
            <a:ext cx="5440680" cy="3246120"/>
          </a:xfrm>
          <a:prstGeom prst="roundRect">
            <a:avLst/>
          </a:prstGeom>
          <a:solidFill>
            <a:srgbClr val="E8F6F8"/>
          </a:solidFill>
          <a:ln w="254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2648" y="2624328"/>
            <a:ext cx="5221224" cy="438912"/>
          </a:xfrm>
          <a:prstGeom prst="round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2679192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mova/  ·  Portal y apps MOVA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3227832"/>
            <a:ext cx="9601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3273552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2A4A4E"/>
                </a:solidFill>
              </a:defRPr>
            </a:pPr>
            <a:r>
              <a:t>agencia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709928" y="3227832"/>
            <a:ext cx="9601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09928" y="3273552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2A4A4E"/>
                </a:solidFill>
              </a:defRPr>
            </a:pPr>
            <a:r>
              <a:t>brief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34056" y="3227832"/>
            <a:ext cx="9601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34056" y="3273552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2A4A4E"/>
                </a:solidFill>
              </a:defRPr>
            </a:pPr>
            <a:r>
              <a:t>cotizador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758184" y="3227832"/>
            <a:ext cx="9601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58184" y="3273552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2A4A4E"/>
                </a:solidFill>
              </a:defRPr>
            </a:pPr>
            <a:r>
              <a:t>cuentas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782312" y="3227832"/>
            <a:ext cx="9601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82312" y="3273552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2A4A4E"/>
                </a:solidFill>
              </a:defRPr>
            </a:pPr>
            <a:r>
              <a:t>doc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5800" y="3611880"/>
            <a:ext cx="960120" cy="310896"/>
          </a:xfrm>
          <a:prstGeom prst="roundRect">
            <a:avLst/>
          </a:prstGeom>
          <a:solidFill>
            <a:srgbClr val="FFF8C5"/>
          </a:solidFill>
          <a:ln w="12700"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3657600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BF3F00"/>
                </a:solidFill>
              </a:defRPr>
            </a:pPr>
            <a:r>
              <a:t>erp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709928" y="3611880"/>
            <a:ext cx="9601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709928" y="3657600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2A4A4E"/>
                </a:solidFill>
              </a:defRPr>
            </a:pPr>
            <a:r>
              <a:t>estudios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734056" y="3611880"/>
            <a:ext cx="9601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34056" y="3657600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2A4A4E"/>
                </a:solidFill>
              </a:defRPr>
            </a:pPr>
            <a:r>
              <a:t>facturas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758184" y="3611880"/>
            <a:ext cx="9601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758184" y="3657600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2A4A4E"/>
                </a:solidFill>
              </a:defRPr>
            </a:pPr>
            <a:r>
              <a:t>forecast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782312" y="3611880"/>
            <a:ext cx="9601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82312" y="3657600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2A4A4E"/>
                </a:solidFill>
              </a:defRPr>
            </a:pPr>
            <a:r>
              <a:t>negocios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85800" y="3995928"/>
            <a:ext cx="9601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5800" y="4041648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2A4A4E"/>
                </a:solidFill>
              </a:defRPr>
            </a:pPr>
            <a:r>
              <a:t>oc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709928" y="3995928"/>
            <a:ext cx="9601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709928" y="4041648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2A4A4E"/>
                </a:solidFill>
              </a:defRPr>
            </a:pPr>
            <a:r>
              <a:t>operacion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34056" y="3995928"/>
            <a:ext cx="9601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34056" y="4041648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2A4A4E"/>
                </a:solidFill>
              </a:defRPr>
            </a:pPr>
            <a:r>
              <a:t>seo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758184" y="3995928"/>
            <a:ext cx="9601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758184" y="4041648"/>
            <a:ext cx="960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2A4A4E"/>
                </a:solidFill>
              </a:defRPr>
            </a:pPr>
            <a:r>
              <a:t>strack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800" y="5212080"/>
            <a:ext cx="5074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BF3F00"/>
                </a:solidFill>
              </a:defRPr>
            </a:pPr>
            <a:r>
              <a:t>El ERP no está en la raíz del sitio.</a:t>
            </a:r>
            <a:br/>
            <a:r>
              <a:t>Está dentro de mova/erp/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263640" y="2514600"/>
            <a:ext cx="5440680" cy="3246120"/>
          </a:xfrm>
          <a:prstGeom prst="roundRect">
            <a:avLst/>
          </a:prstGeom>
          <a:solidFill>
            <a:srgbClr val="F3EEF8"/>
          </a:solidFill>
          <a:ln w="25400">
            <a:solidFill>
              <a:srgbClr val="9A7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373368" y="2624328"/>
            <a:ext cx="5221224" cy="438912"/>
          </a:xfrm>
          <a:prstGeom prst="roundRect">
            <a:avLst/>
          </a:prstGeom>
          <a:solidFill>
            <a:srgbClr val="9A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46520" y="2679192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mova_auth/  ·  Login unificado (objetivo MOVA)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492240" y="3291840"/>
            <a:ext cx="14173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A7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92240" y="3337560"/>
            <a:ext cx="1417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4080"/>
                </a:solidFill>
              </a:defRPr>
            </a:pPr>
            <a:r>
              <a:t>login.php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973568" y="3291840"/>
            <a:ext cx="14173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A7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973568" y="3337560"/>
            <a:ext cx="1417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4080"/>
                </a:solidFill>
              </a:defRPr>
            </a:pPr>
            <a:r>
              <a:t>auth.php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454896" y="3291840"/>
            <a:ext cx="14173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A7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454896" y="3337560"/>
            <a:ext cx="1417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4080"/>
                </a:solidFill>
              </a:defRPr>
            </a:pPr>
            <a:r>
              <a:t>config.php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492240" y="3675888"/>
            <a:ext cx="14173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A7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92240" y="3721608"/>
            <a:ext cx="1417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4080"/>
                </a:solidFill>
              </a:defRPr>
            </a:pPr>
            <a:r>
              <a:t>google_login.php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73568" y="3675888"/>
            <a:ext cx="14173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A7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973568" y="3721608"/>
            <a:ext cx="1417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4080"/>
                </a:solidFill>
              </a:defRPr>
            </a:pPr>
            <a:r>
              <a:t>logout.php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454896" y="3675888"/>
            <a:ext cx="14173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A7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454896" y="3721608"/>
            <a:ext cx="1417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4080"/>
                </a:solidFill>
              </a:defRPr>
            </a:pPr>
            <a:r>
              <a:t>panel.php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492240" y="4059936"/>
            <a:ext cx="14173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A7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92240" y="4105656"/>
            <a:ext cx="1417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4080"/>
                </a:solidFill>
              </a:defRPr>
            </a:pPr>
            <a:r>
              <a:t>setup.sql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92240" y="4846320"/>
            <a:ext cx="4983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5A4080"/>
                </a:solidFill>
              </a:defRPr>
            </a:pPr>
            <a:r>
              <a:t>Aquí vivirá el único login</a:t>
            </a:r>
            <a:br/>
            <a:r>
              <a:t>para todos los módulos M.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2920" y="589788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4A4E"/>
                </a:solidFill>
              </a:defRPr>
            </a:pPr>
            <a:r>
              <a:t>Lectura rápida:  teal = MOVA  ·  violeta = login unificado  ·  amarillo = ERP (ubicación clave)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DevTools · Local Storage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Sesión en https://acme-chile.cl/mova/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A4A4E"/>
                </a:solidFill>
              </a:defRPr>
            </a:pPr>
            <a:r>
              <a:t>Origen acme-chile.cl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Clave: axon_chats  →  historial chats widget AXON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A4A4E"/>
                </a:solidFill>
              </a:defRPr>
            </a:pPr>
            <a:r>
              <a:t>Origen accounts.google.com (terceros)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00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Sesión Google OAuth — fuera del top-level site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31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2328"/>
                </a:solidFill>
              </a:defRPr>
            </a:pPr>
            <a:r>
              <a:t>No se detectó clave jwt / token / access_token en acme-chile.cl.</a:t>
            </a:r>
            <a:br/>
            <a:r>
              <a:t>Sesión principal: Google OAuth + cookies.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5029200"/>
            <a:ext cx="10789920" cy="914400"/>
          </a:xfrm>
          <a:prstGeom prst="roundRect">
            <a:avLst/>
          </a:prstGeom>
          <a:solidFill>
            <a:srgbClr val="FFF8C5"/>
          </a:solidFill>
          <a:ln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166360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A4A4E"/>
                </a:solidFill>
              </a:defRPr>
            </a:pPr>
            <a:r>
              <a:t>Objetivo Día 2–7: unificar en mova_auth con cookie HttpOnly — sin JWT en cliente.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Próximo paso — Día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mkof/02 · Acuerdo + diseño mova_auth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1. Documento «Reglas-mova_auth» — regla: si no pasó por mova_auth, no entra.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2. Lista de 6 archivos PHP: config, session, login, validate, guard, logout.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0545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3. Elegir módulo sandbox para migración (Día 5) — sugerencia: módulo simple bajo /mova/.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7238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4. Solicitar al equipo n8n listado de webhooks por módulo (complemento inventario).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3931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5. Marcar Día 1 completado en organizador tras compartir este PPT/PDF.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03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56D76"/>
                </a:solidFill>
              </a:defRPr>
            </a:pPr>
            <a:r>
              <a:t>Entregables: MOVA-D1-Inventario-Status.pptx · MOVA-D1-Inventario-Status.pdf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
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4A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8D8DC"/>
                </a:solidFill>
              </a:defRPr>
            </a:pPr>
            <a:r>
              <a:t>MOVA · Día 2 — Auditoría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Reglas mova_auth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F6F8"/>
                </a:solidFill>
              </a:defRPr>
            </a:pPr>
            <a:r>
              <a:t>acme-chile.cl · único validador de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8D8DC"/>
                </a:solidFill>
              </a:defRPr>
            </a:pPr>
            <a:r>
              <a:t>Tarea organizador: index.html?tarea=mkof/02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8 jul 2026 · GRUPO MAKING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8C5"/>
                </a:solidFill>
              </a:defRPr>
            </a:pPr>
            <a:r>
              <a:t>Solo documentar y acordar — NO tocar código en servidor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Contexto — hallazgo Día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Inventario completado · login fragmentado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Portal /mova/ → Google OAuth (no pasa por mova_auth).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mova_auth/login.php → correo+clave (parcial, no gate del panel).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3230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mova/erp/ → contraseña local independiente.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6265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Ningún módulo M usa mova_auth como único validador.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9300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F2328"/>
                </a:solidFill>
              </a:defRPr>
            </a:pPr>
            <a:r>
              <a:t>•  Antes de implementar (D3+), el equipo debe acordar las reglas por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conceptual — situación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¿Por qué necesitamos reglas?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F2328"/>
                </a:solidFill>
              </a:defRPr>
            </a:pPr>
            <a:r>
              <a:t>El usuario no sabe por dónde «entrar». Cada módulo decidió su propio login.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00200"/>
            <a:ext cx="1371600" cy="457200"/>
          </a:xfrm>
          <a:prstGeom prst="roundRect">
            <a:avLst/>
          </a:prstGeom>
          <a:solidFill>
            <a:srgbClr val="2A4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0" y="16916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Usuario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148840" cy="141732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Google OAuth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Entra con cuenta Google</a:t>
            </a:r>
            <a:br/>
            <a:r>
              <a:t>al panel MOVA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50876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63240" y="2331720"/>
            <a:ext cx="2148840" cy="1417320"/>
          </a:xfrm>
          <a:prstGeom prst="roundRect">
            <a:avLst/>
          </a:prstGeom>
          <a:solidFill>
            <a:srgbClr val="FFF8C5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correo + clave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mova_auth/login.php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Login PHP aparte</a:t>
            </a:r>
            <a:br/>
            <a:r>
              <a:t>NO abre el panel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0" y="2331720"/>
            <a:ext cx="2148840" cy="141732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contraseña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Solo campo clave</a:t>
            </a:r>
            <a:br/>
            <a:r>
              <a:t>en el ERP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35508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09560" y="2331720"/>
            <a:ext cx="2148840" cy="1417320"/>
          </a:xfrm>
          <a:prstGeom prst="roundRect">
            <a:avLst/>
          </a:prstGeom>
          <a:solidFill>
            <a:srgbClr val="F0F4F5"/>
          </a:solidFill>
          <a:ln w="254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4231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4A4E"/>
                </a:solidFill>
              </a:defRPr>
            </a:pPr>
            <a:r>
              <a:t>sin login visible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2697480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2971800"/>
            <a:ext cx="1965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F2328"/>
                </a:solidFill>
              </a:defRPr>
            </a:pPr>
            <a:r>
              <a:t>Abre directo</a:t>
            </a:r>
            <a:br/>
            <a:r>
              <a:t>¿quién valida?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778240" y="2148840"/>
            <a:ext cx="320040" cy="201168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85800" y="4160520"/>
            <a:ext cx="10972800" cy="1417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297680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En palabras simples:</a:t>
            </a:r>
            <a:br/>
            <a:r>
              <a:t>• «Parcial, no gate del panel» = mova_auth/login.php existe, pero el panel /mova/ NO lo usa como entrada.</a:t>
            </a:r>
            <a:br/>
            <a:r>
              <a:t>• «Login aparte» = el ERP tiene su propia pantalla de clave, distinta de todo lo demás.</a:t>
            </a:r>
            <a:br/>
            <a:r>
              <a:t>• Conclusión D1: ningún módulo M tiene a mova_auth como único portero.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¿Qué es mova_auth?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Glosario para no técnicos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mova_auth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Carpeta en el servidor: public_html/acme-chile.cl/mova_auth/</a:t>
            </a:r>
            <a:br/>
            <a:r>
              <a:t>Es el «portero» que debería validar a todos antes de entrar a apps MOVA.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login.php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Pantalla donde el usuario escribe correo y clave (o Google en el diseño futuro).</a:t>
            </a:r>
            <a:br/>
            <a:r>
              <a:t>Hoy existe pero NO controla el acceso al panel /mova/.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guard.php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Archivo que cada módulo privado incluirá al inicio (futuro).</a:t>
            </a:r>
            <a:br/>
            <a:r>
              <a:t>Pregunta: «¿hay sesión?» — si no, manda al login.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234440"/>
            <a:ext cx="26974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0" y="1353312"/>
            <a:ext cx="2514600" cy="38404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17320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Módulo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874519"/>
            <a:ext cx="2423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Cualquier app interna MOVA: portal, ERP, AXON, RRHH, facturas bajo /mova/, etc.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Analogía del edificio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23360"/>
            <a:ext cx="10972800" cy="16916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0515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Hoy: cada oficina (módulo) tiene su propia cerradura.</a:t>
            </a:r>
            <a:br/>
            <a:r>
              <a:t>Objetivo: un solo recepcionista (mova_auth) en la entrada. Si no pasaste por recepción, ninguna oficina te abre.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Regla de 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Propuesta para acuerdo del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10789920" cy="1234440"/>
          </a:xfrm>
          <a:prstGeom prst="roundRect">
            <a:avLst/>
          </a:prstGeom>
          <a:solidFill>
            <a:srgbClr val="FFF8C5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A4A4E"/>
                </a:solidFill>
              </a:defRPr>
            </a:pPr>
            <a:r>
              <a:t>Si el usuario no pasó por mova_auth con sesión válida,</a:t>
            </a:r>
            <a:br/>
            <a:r>
              <a:t>no entra a ningún módulo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1. Todo módulo privado incluye guard.php al inicio.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2. Sesión PHP server-side — sin JWT en localStorage.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3. Sin sesión → redirect a /mova_auth/login.php?redirect=…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4. Tras login → vuelve al módulo pedido.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548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F2328"/>
                </a:solidFill>
              </a:defRPr>
            </a:pPr>
            <a:r>
              <a:t>5. Sin logins paralelos por módulo (salvo excepciones documentadas).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349240"/>
            <a:ext cx="3931920" cy="5943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4864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mova_auth = única puerta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Regla de oro — explicada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Qué significa cada punto en la práctica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30759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23444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893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1 · guard.php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54533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Como un guardia en la puerta de cada módulo.</a:t>
            </a:r>
            <a:br/>
            <a:r>
              <a:t>Antes de mostrar contenido, verifica: «¿ya te autenticaste en mova_auth?»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226771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219456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2494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2 · Sesión en servidor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0545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La «credencial» vive en el servidor PHP, no en el navegador.</a:t>
            </a:r>
            <a:br/>
            <a:r>
              <a:t>No guardamos tokens en localStorage (más seguro).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22783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315468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32095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3 · Redirect al login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6557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Si no hay sesión → pantalla login.php con parámetro redirect.</a:t>
            </a:r>
            <a:br/>
            <a:r>
              <a:t>Ej: querías /mova/erp/ → tras login vuelves ahí.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418795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1560" y="411480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1696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4 · Vuelta al módulo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2569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El usuario no pierde su destino. Entra una vez y llega donde iba.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5148072"/>
            <a:ext cx="320040" cy="320040"/>
          </a:xfrm>
          <a:prstGeom prst="ellipse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51560" y="5074920"/>
            <a:ext cx="10515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1297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F42C1"/>
                </a:solidFill>
              </a:defRPr>
            </a:pPr>
            <a:r>
              <a:t>5 · Sin logins paralelos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385816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F2328"/>
                </a:solidFill>
              </a:defRPr>
            </a:pPr>
            <a:r>
              <a:t>Se acaban las pantallas de Google sueltas, claves ERP aparte, etc.</a:t>
            </a:r>
            <a:br/>
            <a:r>
              <a:t>Solo mova_auth (salvo excepciones escritas).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conceptual — flujo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Cómo debería funcionar (diseño acordado)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56D76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Usuario pide</a:t>
            </a:r>
            <a:br/>
            <a:r>
              <a:t>/mova/erp/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240280"/>
            <a:ext cx="320040" cy="228600"/>
          </a:xfrm>
          <a:prstGeom prst="rightArrow">
            <a:avLst/>
          </a:prstGeom>
          <a:solidFill>
            <a:srgbClr val="656D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7A80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guard.php</a:t>
            </a:r>
            <a:br/>
            <a:r>
              <a:t>¿sesión?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240280"/>
            <a:ext cx="320040" cy="228600"/>
          </a:xfrm>
          <a:prstGeom prst="rightArrow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6636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F42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F42C1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No → login.php</a:t>
            </a:r>
            <a:br/>
            <a:r>
              <a:t>?redirect=/mova/erp/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223760" y="2240280"/>
            <a:ext cx="320040" cy="228600"/>
          </a:xfrm>
          <a:prstGeom prst="right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7F37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Login OK</a:t>
            </a:r>
            <a:br/>
            <a:r>
              <a:t>sesión + cookie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555480" y="2240280"/>
            <a:ext cx="320040" cy="228600"/>
          </a:xfrm>
          <a:prstGeom prst="rightArrow">
            <a:avLst/>
          </a:prstGeom>
          <a:solidFill>
            <a:srgbClr val="1A7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29800" y="1828800"/>
            <a:ext cx="2011680" cy="1051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18745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7A80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219456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F2328"/>
                </a:solidFill>
              </a:defRPr>
            </a:pPr>
            <a:r>
              <a:t>Vuelve a</a:t>
            </a:r>
            <a:br/>
            <a:r>
              <a:t>/mova/erp/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337560"/>
            <a:ext cx="5303520" cy="214884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F37"/>
                </a:solidFill>
              </a:defRPr>
            </a:pPr>
            <a:r>
              <a:t>Con sesión válida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guard.php deja pasar.</a:t>
            </a:r>
            <a:br/>
            <a:r>
              <a:t>El módulo carga normal.</a:t>
            </a:r>
            <a:br/>
            <a:r>
              <a:t>La cookie HttpOnly viaja sola</a:t>
            </a:r>
            <a:br/>
            <a:r>
              <a:t>(sin que el usuario haga nada).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337560"/>
            <a:ext cx="5303520" cy="2148840"/>
          </a:xfrm>
          <a:prstGeom prst="roundRect">
            <a:avLst/>
          </a:prstGeom>
          <a:solidFill>
            <a:srgbClr val="FFE8D6"/>
          </a:solidFill>
          <a:ln w="254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F3F00"/>
                </a:solidFill>
              </a:defRPr>
            </a:pPr>
            <a:r>
              <a:t>Sin sesión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7947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guard.php redirige a login.</a:t>
            </a:r>
            <a:br/>
            <a:r>
              <a:t>El usuario NO ve contenido privado.</a:t>
            </a:r>
            <a:br/>
            <a:r>
              <a:t>Tras autenticarse, regresa</a:t>
            </a:r>
            <a:br/>
            <a:r>
              <a:t>al módulo que pidió.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A4A4E"/>
                </a:solidFill>
              </a:defRPr>
            </a:pPr>
            <a:r>
              <a:t>Clave: el módulo nunca decide solo quién entra — solo pregunta a mova_auth vía guard.php.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¿Quién debe pasar por mova_auth?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Basado en inventario D1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Auth 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¿mova_auth?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234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Notas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Portal MOVA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6002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6002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Google OAuth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600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Hoy no pasa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6596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mova_auth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196596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/mova_auth/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19659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PHP correo+clave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9659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F42C1"/>
                </a:solidFill>
              </a:defRPr>
            </a:pPr>
            <a:r>
              <a:t>Es el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9659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Parcial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33172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MOVA ERP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33172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/mova/erp/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3317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Contraseña 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3317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331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Login aparte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9748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AXON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269748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/axon/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69748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login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697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69748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Validar D5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06324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RRHH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06324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/rrhh/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06324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403 Forbidden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A7F37"/>
                </a:solidFill>
              </a:defRPr>
            </a:pPr>
            <a:r>
              <a:t>Sí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06324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Sin acceso público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429000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F2328"/>
                </a:solidFill>
              </a:defRPr>
            </a:pPr>
            <a:r>
              <a:t>Documentos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3429000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56D76"/>
                </a:solidFill>
              </a:defRPr>
            </a:pPr>
            <a:r>
              <a:t>/documentos/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34290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Público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4290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F3F00"/>
                </a:solidFill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342900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F2328"/>
                </a:solidFill>
              </a:defRPr>
            </a:pPr>
            <a:r>
              <a:t>Excepción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4A4E"/>
                </a:solidFill>
              </a:defRPr>
            </a:pPr>
            <a:r>
              <a:t>Submódulos bajo /mova/ (facturas, oc, agencia…) heredan la misma regla: deben pasar por mova_auth.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Tabla explicada — fila por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Para compartir con quien no vio el inventario D1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88720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Portal MOVA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25880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Hoy entra con Google. En el diseño nuevo debe pasar por mova_auth primero.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38528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mova_auth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38528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075688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Es el portero. Hoy es «parcial» porque existe pero no controla todo.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88336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852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MOVA ERP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2688336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60" y="2825496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Hoy tiene clave propia. Debe unificarse: misma sesión que el resto.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38144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027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AXON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3438144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575304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Abre sin login visible. Hay que definir validación (tarea D5).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187952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3525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RRHH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187952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4325112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403 en servidor. Privado — debe pasar por mova_auth cuando se habilite.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937760"/>
            <a:ext cx="2011680" cy="658368"/>
          </a:xfrm>
          <a:prstGeom prst="round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023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Documentos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937760"/>
            <a:ext cx="88239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360" y="5074920"/>
            <a:ext cx="8549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F2328"/>
                </a:solidFill>
              </a:defRPr>
            </a:pPr>
            <a:r>
              <a:t>Público a propósito. EXCEPCIÓN — no necesita mova_auth.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806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4A4E"/>
                </a:solidFill>
              </a:defRPr>
            </a:pPr>
            <a:r>
              <a:t>Lectura rápida: verde=Sí debe pasar · violeta=es el gate · naranja=excepción pública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Excepciones y contenido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No requieren mova_auth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/documentos/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1732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Playbooks HTML públicos (auditoria_mova.html, etc.)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Assets estáticos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CSS, JS, imágenes sin datos sensibles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login.php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Página de entrada — no se protege con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logout.php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92608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Cierre de sesión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A4A4E"/>
                </a:solidFill>
              </a:defRPr>
            </a:pPr>
            <a:r>
              <a:t>validate.php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900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F2328"/>
                </a:solidFill>
              </a:defRPr>
            </a:pPr>
            <a:r>
              <a:t>API JSON 200/401 para AJAX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389120"/>
            <a:ext cx="10789920" cy="914400"/>
          </a:xfrm>
          <a:prstGeom prst="roundRect">
            <a:avLst/>
          </a:prstGeom>
          <a:solidFill>
            <a:srgbClr val="FFE8D6"/>
          </a:solidFill>
          <a:ln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720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F3F00"/>
                </a:solidFill>
              </a:defRPr>
            </a:pPr>
            <a:r>
              <a:t>Prohibido post-acuerdo: Google OAuth directo en módulo · JWT en localStorage · logins duplicados por módulo.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Mapa — ¿Qué está adentro y afuera?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Dentro del edificio vs calle pública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5029200" cy="4434840"/>
          </a:xfrm>
          <a:prstGeom prst="roundRect">
            <a:avLst/>
          </a:prstGeom>
          <a:solidFill>
            <a:srgbClr val="D4EDDA"/>
          </a:solidFill>
          <a:ln w="381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F37"/>
                </a:solidFill>
              </a:defRPr>
            </a:pPr>
            <a:r>
              <a:t>DENTRO — requiere mova_auth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182880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/mova/ y submódulos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242316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/mova/erp/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1752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272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/axon/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361188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216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/rrhh/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206240"/>
            <a:ext cx="43891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59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Todo módulo M privado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234440"/>
            <a:ext cx="5166360" cy="4434840"/>
          </a:xfrm>
          <a:prstGeom prst="roundRect">
            <a:avLst/>
          </a:prstGeom>
          <a:solidFill>
            <a:srgbClr val="F0F4F5"/>
          </a:solidFill>
          <a:ln w="381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371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56D76"/>
                </a:solidFill>
              </a:defRPr>
            </a:pPr>
            <a:r>
              <a:t>AFUERA — público / excepción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82880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193852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/documentos/ playbooks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42316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53288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CSS · JS · imágenes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301752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12724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login.php (entrada)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61188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72160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logout.php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4206240"/>
            <a:ext cx="45262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56D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4315968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F2328"/>
                </a:solidFill>
              </a:defRPr>
            </a:pPr>
            <a:r>
              <a:t>validate.php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2286000"/>
            <a:ext cx="502920" cy="22860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92608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mova</a:t>
            </a:r>
            <a:br/>
            <a:r>
              <a:t>_auth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F3F00"/>
                </a:solidFill>
              </a:defRPr>
            </a:pPr>
            <a:r>
              <a:t>Prohibido: poner Google OAuth o JWT dentro de un módulo «adentro» sin pasar por el portero.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Antes vs después (resumen visual)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Lo que acordamos cambiar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F3F00"/>
                </a:solidFill>
              </a:defRPr>
            </a:pPr>
            <a:r>
              <a:t>ANTES (Día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4592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Google en /mova/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Clave suelta en ERP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5176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43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mova_auth/login.php aislado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54680"/>
            <a:ext cx="5029200" cy="438912"/>
          </a:xfrm>
          <a:prstGeom prst="roundRect">
            <a:avLst/>
          </a:prstGeom>
          <a:solidFill>
            <a:srgbClr val="FFE8D6"/>
          </a:solidFill>
          <a:ln w="12700">
            <a:solidFill>
              <a:srgbClr val="BF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F3F00"/>
                </a:solidFill>
              </a:defRPr>
            </a:pPr>
            <a:r>
              <a:t>Sin portero único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89320" y="2926080"/>
            <a:ext cx="548640" cy="365760"/>
          </a:xfrm>
          <a:prstGeom prst="rightArrow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7F37"/>
                </a:solidFill>
              </a:defRPr>
            </a:pPr>
            <a:r>
              <a:t>DESPUÉS (acuerdo D2)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164592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Un solo login en mova_auth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14884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2402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Sesión PHP + cookie HttpOnly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65176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7432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guard.php en cada módulo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154680"/>
            <a:ext cx="5029200" cy="438912"/>
          </a:xfrm>
          <a:prstGeom prst="roundRect">
            <a:avLst/>
          </a:prstGeom>
          <a:solidFill>
            <a:srgbClr val="D4EDDA"/>
          </a:solidFill>
          <a:ln w="12700">
            <a:solidFill>
              <a:srgbClr val="1A7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246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7F37"/>
                </a:solidFill>
              </a:defRPr>
            </a:pPr>
            <a:r>
              <a:t>Sin JWT en navegador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34840"/>
            <a:ext cx="10972800" cy="1234440"/>
          </a:xfrm>
          <a:prstGeom prst="roundRect">
            <a:avLst/>
          </a:prstGeom>
          <a:solidFill>
            <a:srgbClr val="FFF8C5"/>
          </a:solidFill>
          <a:ln w="12700">
            <a:solidFill>
              <a:srgbClr val="4A7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177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A4A4E"/>
                </a:solidFill>
              </a:defRPr>
            </a:pPr>
            <a:r>
              <a:t>Importante: «después» es el diseño acordado en auditoría.</a:t>
            </a:r>
            <a:br/>
            <a:r>
              <a:t>La implementación en servidor empieza en Día 3+. Hoy solo firmamos las reglas.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A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Checklist cierre Día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F6F8"/>
                </a:solidFill>
              </a:defRPr>
            </a:pPr>
            <a:r>
              <a:t>Compartir con equipo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71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Regla de oro acordada con equipo técnico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Tabla de módulos revisada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22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225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Excepciones públicas confirmadas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98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Documento compartido (PDF/PPT)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F3F00"/>
                </a:solidFill>
              </a:defRPr>
            </a:pPr>
            <a: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735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F2328"/>
                </a:solidFill>
              </a:defRPr>
            </a:pPr>
            <a:r>
              <a:t>Tarea mkof/02 marcada completada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56D76"/>
                </a:solidFill>
              </a:defRPr>
            </a:pPr>
            <a:r>
              <a:t>Pendiente: acuerdo formal (correo/acta) · Responsable: _______ · Fecha: _______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A4A4E"/>
                </a:solidFill>
              </a:defRPr>
            </a:pPr>
            <a:r>
              <a:t>Próximo: Día 3 — Carpetas y archivos núcleo · mkof/03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
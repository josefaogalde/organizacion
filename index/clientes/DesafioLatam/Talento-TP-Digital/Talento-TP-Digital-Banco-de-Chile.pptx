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REPORTE DE IMPACTO · ABRIL–JULIO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Talento TP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para Chile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3"/>
                </a:solidFill>
                <a:latin typeface="Calibri"/>
              </a:rPr>
              <a:t>Capacitación en Inteligencia Artificial, Automatización y Competencias Financieras para jóvenes de Enseñanza Media 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6217920" cy="1051560"/>
          </a:xfrm>
          <a:prstGeom prst="roundRect">
            <a:avLst>
              <a:gd name="adj" fmla="val 10000"/>
            </a:avLst>
          </a:prstGeom>
          <a:solidFill>
            <a:srgbClr val="E4E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160520"/>
            <a:ext cx="91440" cy="1051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806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2"/>
                </a:solidFill>
                <a:latin typeface="Calibri"/>
              </a:rPr>
              <a:t>“El talento técnico-profesional no hay que salir a buscarlo: hay que prepararlo.”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914400"/>
            <a:ext cx="4206240" cy="4754880"/>
          </a:xfrm>
          <a:prstGeom prst="roundRect">
            <a:avLst>
              <a:gd name="adj" fmla="val 8000"/>
            </a:avLst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640080"/>
            <a:ext cx="2377440" cy="2194560"/>
          </a:xfrm>
          <a:prstGeom prst="roundRect">
            <a:avLst>
              <a:gd name="adj" fmla="val 12000"/>
            </a:avLst>
          </a:prstGeom>
          <a:solidFill>
            <a:srgbClr val="E4E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3977639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8120" y="4114800"/>
            <a:ext cx="146304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CASO DE ÉXITO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526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2"/>
                </a:solidFill>
                <a:latin typeface="Calibri"/>
              </a:rPr>
              <a:t>+85 estudiantes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3"/>
                </a:solidFill>
                <a:latin typeface="Calibri"/>
              </a:rPr>
              <a:t>Initec Curicó · Región del Maule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53492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394960"/>
            <a:ext cx="960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2"/>
                </a:solidFill>
                <a:latin typeface="Calibri"/>
              </a:rPr>
              <a:t>92,5%</a:t>
            </a:r>
          </a:p>
          <a:p>
            <a:pPr algn="ctr"/>
            <a:r>
              <a:rPr sz="900" b="1" i="0">
                <a:solidFill>
                  <a:srgbClr val="5D8A22"/>
                </a:solidFill>
                <a:latin typeface="Calibri"/>
              </a:rPr>
              <a:t>Aprob.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3492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5394960"/>
            <a:ext cx="960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2"/>
                </a:solidFill>
                <a:latin typeface="Calibri"/>
              </a:rPr>
              <a:t>202h</a:t>
            </a:r>
          </a:p>
          <a:p>
            <a:pPr algn="ctr"/>
            <a:r>
              <a:rPr sz="900" b="1" i="0">
                <a:solidFill>
                  <a:srgbClr val="5D8A22"/>
                </a:solidFill>
                <a:latin typeface="Calibri"/>
              </a:rPr>
              <a:t>Horas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53492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5394960"/>
            <a:ext cx="960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1722"/>
                </a:solidFill>
                <a:latin typeface="Calibri"/>
              </a:rPr>
              <a:t>10/10</a:t>
            </a:r>
          </a:p>
          <a:p>
            <a:pPr algn="ctr"/>
            <a:r>
              <a:rPr sz="900" b="1" i="0">
                <a:solidFill>
                  <a:srgbClr val="5D8A22"/>
                </a:solidFill>
                <a:latin typeface="Calibri"/>
              </a:rPr>
              <a:t>Docentes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3291840" cy="411480"/>
          </a:xfrm>
          <a:prstGeom prst="roundRect">
            <a:avLst>
              <a:gd name="adj" fmla="val 35000"/>
            </a:avLst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Banco de Chile × Desafío Latam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Lo que verás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128016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hoy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5059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03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El desafío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45059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04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La respuesta del proyecto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278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05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Impacto en cifras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2278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06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Resultados académicos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050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07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Impacto en las personas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050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08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Inclusión y ecosistema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823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09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Aprendizajes clave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1772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823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5D8A22"/>
                </a:solidFill>
                <a:latin typeface="Calibri"/>
              </a:rPr>
              <a:t>10   </a:t>
            </a:r>
            <a:r>
              <a:rPr sz="1600" b="1" i="0">
                <a:solidFill>
                  <a:srgbClr val="0F1722"/>
                </a:solidFill>
                <a:latin typeface="Calibri"/>
              </a:rPr>
              <a:t>Proyección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EL DESAFÍO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Hay que preparar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56032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el talento 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214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La educación TP forma a jóvenes que se insertan temprano al trabajo, pero arrastra una brecha de competencias digitales frente a un mercado con IA, automatización y servicios financieros digitales.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73152" cy="2194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Brecha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Estudiantes de 3° y 4° medio TP egresan sin dominio de herramientas digitales, IA aplicada ni comprensión del sistema financiero.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3200400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3200400"/>
            <a:ext cx="73152" cy="2194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73075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Jóvenes en desventaja competitiva desde el primer día, y una modalidad percibida como “segunda categoría”.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3200400"/>
            <a:ext cx="3566160" cy="21945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3200400"/>
            <a:ext cx="73152" cy="2194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Oportunidad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73075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Una intervención acotada, aplicada y certificada por Banco de Chile puede cerrar la brecha antes del egreso.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LA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Itinerario doble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28600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202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Banco de Chile y Desafío Latam diseñaron un itinerario complementario: e-learning + presencial en el propio liceo.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394960" cy="2651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73152" cy="26517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999232"/>
            <a:ext cx="201168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E-LEARNING · 150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Transformación Digital con IA y Automatización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100% asincrónico y autoinstructivo.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Franquicia Tributaria SENCE (precontrato).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5394960" cy="2651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73152" cy="26517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999232"/>
            <a:ext cx="201168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PRESENCIAL · 52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Cliente Digital en el Centro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7490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6 módulos a medida.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Bootcamp con ≥60% de práctica, casos reales y simulaciones.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IMPACTO EN CIFRAS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Resultados 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56032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primer ciclo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7432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73152" cy="15544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ESTUDIANTES FORMADOS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77440"/>
            <a:ext cx="27432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377440"/>
            <a:ext cx="73152" cy="15544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6060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HORAS POR ESTUDIANTE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27432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73152" cy="15544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92,5%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TASA DE APROBACIÓN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377440"/>
            <a:ext cx="27432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2377440"/>
            <a:ext cx="73152" cy="15544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6060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86,2%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ASISTENCIA PROMEDIO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73152" cy="17373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Cobertura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36592"/>
            <a:ext cx="50292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Colegio Initec · Curicó (Maule).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Primer ciclo de un convenio proyectado a 1.660 estudiantes en 2026.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06240"/>
            <a:ext cx="5394960" cy="17373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73152" cy="17373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370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Satisfacción docente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736592"/>
            <a:ext cx="50292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10/10 global.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4,4/5 equipo administrativo ADL · 4,2/5 experiencia como facilitador.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DESEMPEÑO ACADÉMICO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Cuando se presentaron,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74320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aprendieron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200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3152" cy="146304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8,66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NOTA PROMEDIO PRESENCIAL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3200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73152" cy="146304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2"/>
                </a:solidFill>
                <a:latin typeface="Calibri"/>
              </a:rPr>
              <a:t>9,66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8A22"/>
                </a:solidFill>
                <a:latin typeface="Calibri"/>
              </a:rPr>
              <a:t>QUIZZES E-LEARNING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468880"/>
            <a:ext cx="7406640" cy="31089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468880"/>
            <a:ext cx="73152" cy="31089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3347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Lectura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99232"/>
            <a:ext cx="704088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Ningún estudiante reprobó por bajo rendimiento (6 casos por actividades pendientes).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Aprobación: 97,4% en 4° medio · 87,8% en 3° medio (base 80).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60% del grupo con nota final entre 9,0 y 10,0.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Proyecto Integrador: 9,83 (3°) y 9,67 (4°).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E-learning: 70,4% finalización (69/98) · 73,8% avance promedio.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IMPACTO EN LAS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Competencias para 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274320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primer empleo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3152" cy="237744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Digitales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3200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IA generativa (prompts CRTF, zero-shot / few-shot) y automatización no-code (Zapier, n8n, Make, Power Automate).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246888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2468880"/>
            <a:ext cx="73152" cy="237744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Financieras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999232"/>
            <a:ext cx="3200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Sistema financiero chileno y reguladores, análisis con hojas de cálculo, venta consultiva y asesoría a clientes.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46888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2468880"/>
            <a:ext cx="73152" cy="237744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Personales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999232"/>
            <a:ext cx="3200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Presupuesto, clasificación de gastos, ahorro y planes de salida de deudas con cifras concretas.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4E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91440" cy="1051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561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2"/>
                </a:solidFill>
                <a:latin typeface="Calibri"/>
              </a:rPr>
              <a:t>Cada estudiante egresa con diploma Banco de Chile × Desafío Latam y un proyecto integrador ante cliente simulado.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INCLUSIÓN · ECOSISTEMA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Articulación 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164592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73152" cy="320040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Inclusión y equidad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5029200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Foco en liceos TP, segmento históricamente subvalorado.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Descentralización: Curicó, Región del Maule.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100% vía SENCE: sin barrera económica.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Seguimiento caso a caso de rezagados.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286000"/>
            <a:ext cx="73152" cy="320040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50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Comunidades y validación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16352"/>
            <a:ext cx="5029200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Banca + OTEC digital + educación TP + Estado (SENCE).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Integrado al calendario escolar del liceo.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Certificación conjunta Banco de Chile – Desafío Latam.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Hitos con autoridades de las tres instituciones.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APRENDIZAJES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Qué funcionó · qué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182880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ajustar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383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73152" cy="33832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450592"/>
            <a:ext cx="201168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Lo que funcionó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Complementariedad e-learning + presencial.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Metodología práctica (≥60% de aula).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Coordinación sólida entre las 3 instituciones.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Seguimiento individualizado de rezagados.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5394960" cy="338328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D4D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73152" cy="338328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450592"/>
            <a:ext cx="201168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2"/>
                </a:solidFill>
                <a:latin typeface="Calibri"/>
              </a:rPr>
              <a:t>Ajustar a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0040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Anticipar calendario (asistencia 3° medio cayó a 17,9% al cierre).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Hitos intermedios en e-learning (29/98 no completaron).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Corregir rúbricas/formatos evaluativos.</a:t>
            </a:r>
          </a:p>
          <a:p>
            <a:pPr algn="l"/>
            <a:r>
              <a:rPr sz="1300" b="0" i="0">
                <a:solidFill>
                  <a:srgbClr val="4A5563"/>
                </a:solidFill>
                <a:latin typeface="Calibri"/>
              </a:rPr>
              <a:t>• Dinamizar Módulo 3 · mejorar LMS · encuesta a tiempo.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D8A22"/>
                </a:solidFill>
                <a:latin typeface="Calibri"/>
              </a:rPr>
              <a:t>PROYECCIÓN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2"/>
                </a:solidFill>
                <a:latin typeface="Calibri"/>
              </a:rPr>
              <a:t>Listos para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1828800" cy="50292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escalar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3"/>
                </a:solidFill>
                <a:latin typeface="Calibri"/>
              </a:rPr>
              <a:t>Convenio 2026: 1.660 estudiantes — 1.500 en e-learning masivo y 160 en presencial (4 cohortes).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• Replicar en Initec con calendario corregido.</a:t>
            </a:r>
          </a:p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• Extender a nuevas especialidades y liceos.</a:t>
            </a:r>
          </a:p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• Webinars BChile, empleabilidad y comunidad virtual.</a:t>
            </a:r>
          </a:p>
          <a:p>
            <a:pPr algn="l"/>
            <a:r>
              <a:rPr sz="1500" b="0" i="0">
                <a:solidFill>
                  <a:srgbClr val="4A5563"/>
                </a:solidFill>
                <a:latin typeface="Calibri"/>
              </a:rPr>
              <a:t>• Modelo SENCE validado operativamente.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6400800" cy="1051560"/>
          </a:xfrm>
          <a:prstGeom prst="roundRect">
            <a:avLst>
              <a:gd name="adj" fmla="val 10000"/>
            </a:avLst>
          </a:prstGeom>
          <a:solidFill>
            <a:srgbClr val="E4E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846320"/>
            <a:ext cx="91440" cy="1051560"/>
          </a:xfrm>
          <a:prstGeom prst="rect">
            <a:avLst/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5989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2"/>
                </a:solidFill>
                <a:latin typeface="Calibri"/>
              </a:rPr>
              <a:t>Detrás de cada cifra hay un joven de Curicó que hoy usa IA, entiende el sistema financiero y llega a su primera entrevista con un diploma del Banco de Chile.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103120"/>
            <a:ext cx="4023360" cy="3657600"/>
          </a:xfrm>
          <a:prstGeom prst="roundRect">
            <a:avLst>
              <a:gd name="adj" fmla="val 10000"/>
            </a:avLst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37744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1.660</a:t>
            </a:r>
          </a:p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estudiantes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E4EFC7"/>
                </a:solidFill>
                <a:latin typeface="Calibri"/>
              </a:rPr>
              <a:t>De un ciclo validado a la política de formación digital TP.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5120640"/>
            <a:ext cx="2926080" cy="411480"/>
          </a:xfrm>
          <a:prstGeom prst="roundRect">
            <a:avLst>
              <a:gd name="adj" fmla="val 35000"/>
            </a:avLst>
          </a:prstGeom>
          <a:solidFill>
            <a:srgbClr val="5D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Escalar el modelo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5D8A22"/>
                </a:solidFill>
                <a:latin typeface="Calibri"/>
              </a:rPr>
              <a:t>{desafío}</a:t>
            </a:r>
            <a:r>
              <a:rPr sz="1200" b="1" i="0">
                <a:solidFill>
                  <a:srgbClr val="0F1722"/>
                </a:solidFill>
                <a:latin typeface="Calibri"/>
              </a:rPr>
              <a:t> latam_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D8A2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